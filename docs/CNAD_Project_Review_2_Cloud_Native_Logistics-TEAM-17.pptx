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4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9/15/2026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9/15/2026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9/15/2026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9/15/2026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9/15/2026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9/15/2026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9/15/2026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9/15/2026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9/15/2026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9/15/2026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9/15/2026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9/15/2026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800219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16-09-2026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TEAM-17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689938"/>
              </p:ext>
            </p:extLst>
          </p:nvPr>
        </p:nvGraphicFramePr>
        <p:xfrm>
          <a:off x="8193271" y="4898509"/>
          <a:ext cx="370205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2420030330-T Mounitha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2420030173-R Jahnavi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2420030424-M Sahithi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3080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Mr. Madhu Guda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975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Logistics and Supply Chain Management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16/9/2026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470903" y="1238656"/>
            <a:ext cx="5077632" cy="4046216"/>
            <a:chOff x="2561713" y="1530766"/>
            <a:chExt cx="5077632" cy="404621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595777" y="3690666"/>
              <a:ext cx="4267376" cy="82080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40" b="1" dirty="0">
                  <a:solidFill>
                    <a:schemeClr val="bg1"/>
                  </a:solidFill>
                </a:rPr>
                <a:t>Module Integration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2561713" y="4639289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2595777" y="1530766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indent="-342900">
                <a:lnSpc>
                  <a:spcPct val="150000"/>
                </a:lnSpc>
                <a:spcBef>
                  <a:spcPts val="0"/>
                </a:spcBef>
                <a:buSzPts val="2520"/>
                <a:tabLst>
                  <a:tab pos="444500" algn="l"/>
                </a:tabLst>
                <a:defRPr/>
              </a:pPr>
              <a:r>
                <a:rPr lang="en-US" sz="2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Definition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569368" y="23839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defRPr/>
              </a:pPr>
              <a:r>
                <a:rPr lang="en-US" sz="2040" b="1" dirty="0">
                  <a:solidFill>
                    <a:schemeClr val="bg1"/>
                  </a:solidFill>
                </a:rPr>
                <a:t>System Architecture</a:t>
              </a:r>
              <a:endParaRPr kumimoji="0" lang="en-IN" sz="204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183504" y="4915869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77189" y="3780764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730548" y="3095356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69605" y="2452826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141511" y="1637120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595777" y="3171625"/>
              <a:ext cx="4004225" cy="4062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40" b="1" dirty="0">
                  <a:solidFill>
                    <a:schemeClr val="bg1"/>
                  </a:solidFill>
                </a:rPr>
                <a:t>Module Design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500" name="Content TextBox 500"/>
          <p:cNvSpPr txBox="1"/>
          <p:nvPr/>
        </p:nvSpPr>
        <p:spPr>
          <a:xfrm>
            <a:off x="800100" y="1150000"/>
            <a:ext cx="106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visibility into shipments, inventory, and deliveries across the supply chain.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 paper-based processes that slow down operations and increase the chance of errors. </a:t>
            </a:r>
            <a:endParaRPr lang="en-US" sz="204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Disconnected systems that make it difficult to coordinate shipments, inventory, and deliveries effectively.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operational costs and reduced efficiency without a scalable, transparent solution.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clear need for a cloud-native platform that improves transparency, automation,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00" name="Content TextBox 500"/>
          <p:cNvSpPr txBox="1"/>
          <p:nvPr/>
        </p:nvSpPr>
        <p:spPr>
          <a:xfrm>
            <a:off x="800100" y="1150000"/>
            <a:ext cx="106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build a cloud-native platform to modernize logistics and supply chain operations.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shipment tracking with live GPS updates, delivery status, and instant notifications.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 inventory management to reduce stock shortages and overstock situations.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delivery routes to reduce travel time, fuel consumption, and operational costs.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secure, reliable, and scalable deployment using Docker, Kubernetes, and AWS.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0C8AA-AC62-0CA6-99EA-FE4B3B3C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B0CFA-2F24-1AB1-3D7E-84653FE3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0B27E-C0FE-0C9B-A877-C0D1E790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3BF03-ED15-60E9-4499-35633866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EE142-F4B1-40A8-1143-2BFE3492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5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E55CB7-4A13-D2CD-96BC-26411AABAAE4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System Architecture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0E3240-0637-1EA3-F9A1-71DA53D76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011" y="869586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0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89AB-FF01-18E4-6BE3-E8C904EA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21055-FE64-6F4A-66D3-07E7D74AB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466A7-8E68-A5B4-176A-75CA2A6D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1E4C2-63E4-A4DB-CB14-D372BF21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5CC7-C7E7-F4C6-DB78-59D2FA26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7EDF6E-4453-569D-2995-D4F4858D51F7}"/>
              </a:ext>
            </a:extLst>
          </p:cNvPr>
          <p:cNvSpPr/>
          <p:nvPr/>
        </p:nvSpPr>
        <p:spPr>
          <a:xfrm>
            <a:off x="3668911" y="122679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Design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16740-B46D-2DCE-5E15-BBB3EEE942D9}"/>
              </a:ext>
            </a:extLst>
          </p:cNvPr>
          <p:cNvSpPr txBox="1"/>
          <p:nvPr/>
        </p:nvSpPr>
        <p:spPr>
          <a:xfrm>
            <a:off x="662730" y="1039694"/>
            <a:ext cx="11023134" cy="531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Authentication &amp; User Management</a:t>
            </a:r>
            <a:endParaRPr lang="en-US" dirty="0"/>
          </a:p>
          <a:p>
            <a:pPr lvl="0"/>
            <a:r>
              <a:rPr lang="en-US" dirty="0"/>
              <a:t>Secure user login and authentication </a:t>
            </a:r>
          </a:p>
          <a:p>
            <a:pPr lvl="0"/>
            <a:r>
              <a:rPr lang="en-US" dirty="0"/>
              <a:t>Role-based access for different users </a:t>
            </a:r>
          </a:p>
          <a:p>
            <a:pPr lvl="0"/>
            <a:r>
              <a:rPr lang="en-US" dirty="0"/>
              <a:t>Separate functionality for Supplier, Warehouse Manager, Delivery Personnel, Customer and Admin </a:t>
            </a:r>
          </a:p>
          <a:p>
            <a:r>
              <a:rPr lang="en-US" b="1" dirty="0"/>
              <a:t>2. Inventory Management</a:t>
            </a:r>
            <a:endParaRPr lang="en-US" dirty="0"/>
          </a:p>
          <a:p>
            <a:pPr lvl="0"/>
            <a:r>
              <a:rPr lang="en-US" dirty="0"/>
              <a:t>Manage products and stock levels </a:t>
            </a:r>
          </a:p>
          <a:p>
            <a:pPr lvl="0"/>
            <a:r>
              <a:rPr lang="en-US" dirty="0"/>
              <a:t>Monitor available inventory </a:t>
            </a:r>
          </a:p>
          <a:p>
            <a:pPr lvl="0"/>
            <a:r>
              <a:rPr lang="en-US" dirty="0"/>
              <a:t>Update stock based on order processing </a:t>
            </a:r>
          </a:p>
          <a:p>
            <a:pPr lvl="0"/>
            <a:r>
              <a:rPr lang="en-US" dirty="0"/>
              <a:t>Helps reduce stock shortages and overstock </a:t>
            </a:r>
          </a:p>
          <a:p>
            <a:r>
              <a:rPr lang="en-US" b="1" dirty="0"/>
              <a:t>3. Order Management</a:t>
            </a:r>
            <a:endParaRPr lang="en-US" dirty="0"/>
          </a:p>
          <a:p>
            <a:pPr lvl="0"/>
            <a:r>
              <a:rPr lang="en-US" dirty="0"/>
              <a:t>Customers place orders through the platform </a:t>
            </a:r>
          </a:p>
          <a:p>
            <a:pPr lvl="0"/>
            <a:r>
              <a:rPr lang="en-US" dirty="0"/>
              <a:t>Orders are processed through the backend </a:t>
            </a:r>
          </a:p>
          <a:p>
            <a:pPr lvl="0"/>
            <a:r>
              <a:rPr lang="en-US" dirty="0"/>
              <a:t>Order status is maintained throughout the process </a:t>
            </a:r>
          </a:p>
          <a:p>
            <a:pPr lvl="0"/>
            <a:r>
              <a:rPr lang="en-US" dirty="0"/>
              <a:t>Inventory is updated according to orders </a:t>
            </a:r>
          </a:p>
          <a:p>
            <a:r>
              <a:rPr lang="en-US" b="1" dirty="0"/>
              <a:t>4. Shipment Management</a:t>
            </a:r>
            <a:endParaRPr lang="en-US" dirty="0"/>
          </a:p>
          <a:p>
            <a:pPr lvl="0"/>
            <a:r>
              <a:rPr lang="en-US" dirty="0"/>
              <a:t>Create and manage shipments </a:t>
            </a:r>
          </a:p>
          <a:p>
            <a:pPr lvl="0"/>
            <a:r>
              <a:rPr lang="en-US" dirty="0"/>
              <a:t>Track shipment progress </a:t>
            </a:r>
          </a:p>
          <a:p>
            <a:pPr lvl="0"/>
            <a:r>
              <a:rPr lang="en-US" dirty="0"/>
              <a:t>Maintain shipment status for visibility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0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D8C76-E66C-5E7C-B330-44785844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28CC2-0BB6-75DC-0074-7791CBE4C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DBBCE-55B6-C952-E33A-6F626D810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CA580-1A47-EDA6-D075-A45549CF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4220F-35EF-A8B5-502A-B09381DC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66F9D8-03FD-5CE1-0D57-826D010D3A9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Design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FF6E8A-0E50-236D-D12C-6542AFD2E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43" y="831123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9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28E1-6732-78EC-53F6-001A04A5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F83AC-28B3-0061-EDEE-69BAD0BF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73FF4-6E6A-2248-084D-69EC8C3C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2C2C8-6868-063F-4D51-958553D3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DB077-18F1-F143-334E-481332C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E38FEA-8445-AD53-908A-45B901B76498}"/>
              </a:ext>
            </a:extLst>
          </p:cNvPr>
          <p:cNvSpPr/>
          <p:nvPr/>
        </p:nvSpPr>
        <p:spPr>
          <a:xfrm>
            <a:off x="3668911" y="122679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Design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FE28D-0685-077C-0D7E-A5210B23A17F}"/>
              </a:ext>
            </a:extLst>
          </p:cNvPr>
          <p:cNvSpPr txBox="1"/>
          <p:nvPr/>
        </p:nvSpPr>
        <p:spPr>
          <a:xfrm>
            <a:off x="697020" y="1123006"/>
            <a:ext cx="110231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Delivery Management</a:t>
            </a:r>
            <a:endParaRPr lang="en-US" dirty="0"/>
          </a:p>
          <a:p>
            <a:pPr lvl="0"/>
            <a:r>
              <a:rPr lang="en-US" dirty="0"/>
              <a:t>Assign deliveries to delivery personnel </a:t>
            </a:r>
          </a:p>
          <a:p>
            <a:pPr lvl="0"/>
            <a:r>
              <a:rPr lang="en-US" dirty="0"/>
              <a:t>Update delivery status </a:t>
            </a:r>
          </a:p>
          <a:p>
            <a:pPr lvl="0"/>
            <a:r>
              <a:rPr lang="en-US" dirty="0"/>
              <a:t>Coordinate the final delivery process </a:t>
            </a:r>
          </a:p>
          <a:p>
            <a:r>
              <a:rPr lang="en-US" b="1" dirty="0"/>
              <a:t>6. Notification &amp; Status Management</a:t>
            </a:r>
            <a:endParaRPr lang="en-US" dirty="0"/>
          </a:p>
          <a:p>
            <a:pPr lvl="0"/>
            <a:r>
              <a:rPr lang="en-US" dirty="0"/>
              <a:t>Provide shipment and delivery status updates </a:t>
            </a:r>
          </a:p>
          <a:p>
            <a:pPr lvl="0"/>
            <a:r>
              <a:rPr lang="en-US" dirty="0"/>
              <a:t>Notify relevant users about important changes </a:t>
            </a:r>
          </a:p>
          <a:p>
            <a:pPr lvl="0"/>
            <a:r>
              <a:rPr lang="en-US" dirty="0"/>
              <a:t>Improves real-time visibility </a:t>
            </a:r>
          </a:p>
          <a:p>
            <a:r>
              <a:rPr lang="en-US" b="1" dirty="0"/>
              <a:t>7. Transaction History</a:t>
            </a:r>
            <a:endParaRPr lang="en-US" dirty="0"/>
          </a:p>
          <a:p>
            <a:pPr lvl="0"/>
            <a:r>
              <a:rPr lang="en-US" dirty="0"/>
              <a:t>Maintain records of completed logistics activities </a:t>
            </a:r>
          </a:p>
          <a:p>
            <a:pPr lvl="0"/>
            <a:r>
              <a:rPr lang="en-US" dirty="0"/>
              <a:t>Provides historical information for tracking and monitoring </a:t>
            </a:r>
          </a:p>
          <a:p>
            <a:r>
              <a:rPr lang="en-US" b="1" dirty="0"/>
              <a:t>8. Administration</a:t>
            </a:r>
            <a:endParaRPr lang="en-US" dirty="0"/>
          </a:p>
          <a:p>
            <a:pPr lvl="0"/>
            <a:r>
              <a:rPr lang="en-US" dirty="0"/>
              <a:t>Monitor users, products and orders </a:t>
            </a:r>
          </a:p>
          <a:p>
            <a:pPr lvl="0"/>
            <a:r>
              <a:rPr lang="en-US" dirty="0"/>
              <a:t>Monitor logistics activities </a:t>
            </a:r>
          </a:p>
          <a:p>
            <a:pPr lvl="0"/>
            <a:r>
              <a:rPr lang="en-US" dirty="0"/>
              <a:t>Supports centralized system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79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559D-EDAF-5737-F34D-BE73A9E7A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46222-5D48-DB1A-8938-17E9E6CA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6D495-3496-3CF2-C9A9-C107776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DA86-CEEA-C571-BE43-F69A4534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CD434-CA69-7546-B290-6C991890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CCF089-1637-1F50-B438-C224FFEF340D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Design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FB66F0-132C-D67A-77D0-6E78FB525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69586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3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354B2-661D-2B59-3237-F5135843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2A188-9342-BFDD-10E7-93597885E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6282B-A09D-8F8B-9D97-CE5DE61F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1C0C3-E2E2-A17F-9013-25BC9FFE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67464-B39A-4A4E-A659-1E511B1B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50E640-4ECF-B7C7-1DE8-C874E520EF0B}"/>
              </a:ext>
            </a:extLst>
          </p:cNvPr>
          <p:cNvSpPr/>
          <p:nvPr/>
        </p:nvSpPr>
        <p:spPr>
          <a:xfrm>
            <a:off x="3668911" y="122679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Integration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F934D-A786-C74F-F4CC-2C7C1251C642}"/>
              </a:ext>
            </a:extLst>
          </p:cNvPr>
          <p:cNvSpPr txBox="1"/>
          <p:nvPr/>
        </p:nvSpPr>
        <p:spPr>
          <a:xfrm>
            <a:off x="685590" y="998934"/>
            <a:ext cx="1102313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Module Integration</a:t>
            </a:r>
          </a:p>
          <a:p>
            <a:r>
              <a:rPr lang="en-US" sz="1400" dirty="0"/>
              <a:t>The modules are integrated to create a complete logistics workflow.</a:t>
            </a:r>
          </a:p>
          <a:p>
            <a:r>
              <a:rPr lang="en-US" sz="1400" b="1" dirty="0"/>
              <a:t>Order-to-Delivery Flow</a:t>
            </a:r>
          </a:p>
          <a:p>
            <a:r>
              <a:rPr lang="en-US" sz="1400" dirty="0"/>
              <a:t>Customer</a:t>
            </a:r>
            <a:br>
              <a:rPr lang="en-US" sz="1400" dirty="0"/>
            </a:br>
            <a:r>
              <a:rPr lang="en-US" sz="1400" dirty="0"/>
              <a:t>↓</a:t>
            </a:r>
            <a:br>
              <a:rPr lang="en-US" sz="1400" dirty="0"/>
            </a:br>
            <a:r>
              <a:rPr lang="en-US" sz="1400" dirty="0"/>
              <a:t>Order Management</a:t>
            </a:r>
            <a:br>
              <a:rPr lang="en-US" sz="1400" dirty="0"/>
            </a:br>
            <a:r>
              <a:rPr lang="en-US" sz="1400" dirty="0"/>
              <a:t>↓</a:t>
            </a:r>
            <a:br>
              <a:rPr lang="en-US" sz="1400" dirty="0"/>
            </a:br>
            <a:r>
              <a:rPr lang="en-US" sz="1400" dirty="0"/>
              <a:t>Inventory Verification</a:t>
            </a:r>
            <a:br>
              <a:rPr lang="en-US" sz="1400" dirty="0"/>
            </a:br>
            <a:r>
              <a:rPr lang="en-US" sz="1400" dirty="0"/>
              <a:t>↓</a:t>
            </a:r>
            <a:br>
              <a:rPr lang="en-US" sz="1400" dirty="0"/>
            </a:br>
            <a:r>
              <a:rPr lang="en-US" sz="1400" dirty="0"/>
              <a:t>Inventory Update</a:t>
            </a:r>
            <a:br>
              <a:rPr lang="en-US" sz="1400" dirty="0"/>
            </a:br>
            <a:r>
              <a:rPr lang="en-US" sz="1400" dirty="0"/>
              <a:t>↓</a:t>
            </a:r>
            <a:br>
              <a:rPr lang="en-US" sz="1400" dirty="0"/>
            </a:br>
            <a:r>
              <a:rPr lang="en-US" sz="1400" dirty="0"/>
              <a:t>Shipment Creation</a:t>
            </a:r>
            <a:br>
              <a:rPr lang="en-US" sz="1400" dirty="0"/>
            </a:br>
            <a:r>
              <a:rPr lang="en-US" sz="1400" dirty="0"/>
              <a:t>↓</a:t>
            </a:r>
            <a:br>
              <a:rPr lang="en-US" sz="1400" dirty="0"/>
            </a:br>
            <a:r>
              <a:rPr lang="en-US" sz="1400" dirty="0"/>
              <a:t>Delivery Assignment</a:t>
            </a:r>
            <a:br>
              <a:rPr lang="en-US" sz="1400" dirty="0"/>
            </a:br>
            <a:r>
              <a:rPr lang="en-US" sz="1400" dirty="0"/>
              <a:t>↓</a:t>
            </a:r>
            <a:br>
              <a:rPr lang="en-US" sz="1400" dirty="0"/>
            </a:br>
            <a:r>
              <a:rPr lang="en-US" sz="1400" dirty="0"/>
              <a:t>Shipment / Delivery Tracking</a:t>
            </a:r>
            <a:br>
              <a:rPr lang="en-US" sz="1400" dirty="0"/>
            </a:br>
            <a:r>
              <a:rPr lang="en-US" sz="1400" dirty="0"/>
              <a:t>↓</a:t>
            </a:r>
            <a:br>
              <a:rPr lang="en-US" sz="1400" dirty="0"/>
            </a:br>
            <a:r>
              <a:rPr lang="en-US" sz="1400" dirty="0"/>
              <a:t>Customer receives status updates</a:t>
            </a:r>
          </a:p>
          <a:p>
            <a:r>
              <a:rPr lang="en-US" sz="1400" b="1" dirty="0"/>
              <a:t>Integration Benefits</a:t>
            </a:r>
          </a:p>
          <a:p>
            <a:pPr lvl="0"/>
            <a:r>
              <a:rPr lang="en-US" sz="1400" dirty="0"/>
              <a:t>Connects order, inventory, shipment and delivery operations </a:t>
            </a:r>
          </a:p>
          <a:p>
            <a:pPr lvl="0"/>
            <a:r>
              <a:rPr lang="en-US" sz="1400" dirty="0"/>
              <a:t>Reduces disconnected manual processes </a:t>
            </a:r>
          </a:p>
          <a:p>
            <a:pPr lvl="0"/>
            <a:r>
              <a:rPr lang="en-US" sz="1400" dirty="0"/>
              <a:t>Provides better supply-chain visibility </a:t>
            </a:r>
          </a:p>
          <a:p>
            <a:pPr lvl="0"/>
            <a:r>
              <a:rPr lang="en-US" sz="1400" dirty="0"/>
              <a:t>Enables coordinated logistics activities </a:t>
            </a:r>
          </a:p>
          <a:p>
            <a:pPr lvl="0"/>
            <a:r>
              <a:rPr lang="en-US" sz="1400" dirty="0"/>
              <a:t>Supports real-time status updates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57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4FF7-188D-E2F4-1D35-C5501054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335932-D40B-30C3-62FF-68A2EE392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B2418E-9DC0-3060-80AF-4AC559AF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C6637-487C-0985-B8B1-19C7803E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DEB3-E70F-04F3-84D7-BA2BDD96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E6EA48-1682-5025-2821-BA6BDC070826}"/>
              </a:ext>
            </a:extLst>
          </p:cNvPr>
          <p:cNvSpPr/>
          <p:nvPr/>
        </p:nvSpPr>
        <p:spPr>
          <a:xfrm>
            <a:off x="3668911" y="122679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Integration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B5D94E-4A80-0DC8-2AE9-ECF643F7C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90" y="9080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2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C668A-E191-BB47-FA83-0F252EA0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F2ED2-6DEC-6E9E-6CE7-5411D04E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ABBA8-1A41-F8FF-20B8-11737270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277D0-0EA9-5DAE-84FC-E25A424A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3CD31-815D-FECB-0719-3A57D4E4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12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2394ED-2577-1196-2AC4-31411B425D36}"/>
              </a:ext>
            </a:extLst>
          </p:cNvPr>
          <p:cNvSpPr/>
          <p:nvPr/>
        </p:nvSpPr>
        <p:spPr>
          <a:xfrm>
            <a:off x="3668911" y="122679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Integration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2EE0D-9225-E2ED-3085-379FA00E368E}"/>
              </a:ext>
            </a:extLst>
          </p:cNvPr>
          <p:cNvSpPr txBox="1"/>
          <p:nvPr/>
        </p:nvSpPr>
        <p:spPr>
          <a:xfrm>
            <a:off x="674160" y="1193079"/>
            <a:ext cx="110231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Frontend–Backend Integration</a:t>
            </a:r>
          </a:p>
          <a:p>
            <a:pPr lvl="0"/>
            <a:r>
              <a:rPr lang="en-US" dirty="0"/>
              <a:t>React.js provides the user interface </a:t>
            </a:r>
          </a:p>
          <a:p>
            <a:pPr lvl="0"/>
            <a:r>
              <a:rPr lang="en-US" dirty="0"/>
              <a:t>User actions are sent to Spring Boot through REST APIs </a:t>
            </a:r>
          </a:p>
          <a:p>
            <a:pPr lvl="0"/>
            <a:r>
              <a:rPr lang="en-US" dirty="0"/>
              <a:t>Backend processes business operations </a:t>
            </a:r>
          </a:p>
          <a:p>
            <a:pPr lvl="0"/>
            <a:r>
              <a:rPr lang="en-US" dirty="0"/>
              <a:t>Responses are returned to the frontend </a:t>
            </a:r>
          </a:p>
          <a:p>
            <a:pPr lvl="0"/>
            <a:endParaRPr lang="en-US" dirty="0"/>
          </a:p>
          <a:p>
            <a:r>
              <a:rPr lang="en-US" b="1" dirty="0"/>
              <a:t>Backend–Database Integration</a:t>
            </a:r>
          </a:p>
          <a:p>
            <a:pPr lvl="0"/>
            <a:r>
              <a:rPr lang="en-US" dirty="0"/>
              <a:t>Spring Boot communicates with PostgreSQL </a:t>
            </a:r>
          </a:p>
          <a:p>
            <a:pPr lvl="0"/>
            <a:r>
              <a:rPr lang="en-US" dirty="0"/>
              <a:t>User, product, inventory, order, shipment and delivery information is stored </a:t>
            </a:r>
          </a:p>
          <a:p>
            <a:pPr lvl="0"/>
            <a:r>
              <a:rPr lang="en-US" dirty="0"/>
              <a:t>Modules share required data through the backend </a:t>
            </a:r>
          </a:p>
          <a:p>
            <a:pPr lvl="0"/>
            <a:endParaRPr lang="en-US" dirty="0"/>
          </a:p>
          <a:p>
            <a:r>
              <a:rPr lang="en-US" b="1" dirty="0"/>
              <a:t>Cloud-Native Integration</a:t>
            </a:r>
          </a:p>
          <a:p>
            <a:pPr lvl="0"/>
            <a:r>
              <a:rPr lang="en-US" dirty="0"/>
              <a:t>Application components are containerized using </a:t>
            </a:r>
            <a:r>
              <a:rPr lang="en-US" b="1" dirty="0"/>
              <a:t>Docker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Kubernetes</a:t>
            </a:r>
            <a:r>
              <a:rPr lang="en-US" dirty="0"/>
              <a:t> manages containerized application deployment </a:t>
            </a:r>
          </a:p>
          <a:p>
            <a:pPr lvl="0"/>
            <a:r>
              <a:rPr lang="en-US" b="1" dirty="0"/>
              <a:t>AWS</a:t>
            </a:r>
            <a:r>
              <a:rPr lang="en-US" dirty="0"/>
              <a:t> provides the cloud environment </a:t>
            </a:r>
          </a:p>
          <a:p>
            <a:pPr lvl="0"/>
            <a:r>
              <a:rPr lang="en-US" dirty="0"/>
              <a:t>Supports scalable and reliable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85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E75B-A678-3AED-13A4-AEA9C168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E47E9E-2D6B-2D19-EDFF-33340DDAB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227D3A-21D7-9200-24AD-8164EEC1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561D9-4A07-8E77-F03B-B4F75C0B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A37A4-BC3C-CCDB-82A5-FE39D888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13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0A7292-CB65-2841-4207-2B3AE287BAA8}"/>
              </a:ext>
            </a:extLst>
          </p:cNvPr>
          <p:cNvSpPr/>
          <p:nvPr/>
        </p:nvSpPr>
        <p:spPr>
          <a:xfrm>
            <a:off x="3668911" y="122679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Integration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E36C1B-21D4-AFEC-0BF3-A53E5A9A1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69586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5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3005-4B7D-2D2D-6832-20410767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729EF6-9606-3921-150E-3ACC7568B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CDC11C-156E-9CF3-069C-AE3E5A38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95391-5E1E-D331-C155-272B604D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BD18E-9564-70AF-FEE2-C60E30B2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E68CE9-851A-8F83-E931-9743414F84FD}"/>
              </a:ext>
            </a:extLst>
          </p:cNvPr>
          <p:cNvSpPr/>
          <p:nvPr/>
        </p:nvSpPr>
        <p:spPr>
          <a:xfrm>
            <a:off x="3668911" y="122679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Conclusion &amp; Future Scope</a:t>
            </a:r>
          </a:p>
          <a:p>
            <a:pPr algn="ctr"/>
            <a:endParaRPr lang="en-US" sz="2400" b="1" dirty="0">
              <a:solidFill>
                <a:schemeClr val="bg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28EFB-8BF6-14B9-CDD3-7352989B0962}"/>
              </a:ext>
            </a:extLst>
          </p:cNvPr>
          <p:cNvSpPr txBox="1"/>
          <p:nvPr/>
        </p:nvSpPr>
        <p:spPr>
          <a:xfrm>
            <a:off x="674160" y="1193079"/>
            <a:ext cx="110231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proposed platform integrates logistics operations through a </a:t>
            </a:r>
            <a:r>
              <a:rPr lang="en-US" b="1" dirty="0"/>
              <a:t>centralized cloud-native system</a:t>
            </a:r>
            <a:r>
              <a:rPr lang="en-US" dirty="0"/>
              <a:t>, connecting suppliers, warehouses, delivery personnel, customers, and administrators.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Real-time shipment tracking, inventory management, and coordinated delivery</a:t>
            </a:r>
            <a:r>
              <a:rPr lang="en-US" dirty="0"/>
              <a:t> improve supply-chain visibility and operational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system reduces dependence on </a:t>
            </a:r>
            <a:r>
              <a:rPr lang="en-US" b="1" dirty="0"/>
              <a:t>manual and disconnected processes</a:t>
            </a:r>
            <a:r>
              <a:rPr lang="en-US" dirty="0"/>
              <a:t>, helping minimize delays, errors, and coordination gaps.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Docker, Kubernetes, and AWS</a:t>
            </a:r>
            <a:r>
              <a:rPr lang="en-US" dirty="0"/>
              <a:t> provide a scalable, reliable, and flexible environment for deploying and managing the application.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modular architecture allows the system to be </a:t>
            </a:r>
            <a:r>
              <a:rPr lang="en-US" b="1" dirty="0"/>
              <a:t>incrementally developed and enhanced</a:t>
            </a:r>
            <a:r>
              <a:rPr lang="en-US" dirty="0"/>
              <a:t> as requirements evolve and new features are introduced.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Future scope:</a:t>
            </a:r>
            <a:r>
              <a:rPr lang="en-US" dirty="0"/>
              <a:t> AI-based predictive analytics, IoT-enabled smart logistics, and blockchain integration can further improve prediction, monitoring, security, and transparency.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96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51539-1159-7A3D-2751-4F41B032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FAEA0-D49C-3551-E12B-CF9626CE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D7236-EB2F-07B4-8C12-E77B6302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16/9/2026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EC14C-D362-E3CE-23AD-06FCF7DC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B55C7-C9BE-40C7-3770-720E54EA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15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FDABD9-6488-225B-0826-6E6E47AF6BA7}"/>
              </a:ext>
            </a:extLst>
          </p:cNvPr>
          <p:cNvSpPr/>
          <p:nvPr/>
        </p:nvSpPr>
        <p:spPr>
          <a:xfrm>
            <a:off x="1309037" y="2358189"/>
            <a:ext cx="9760016" cy="116465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solidFill>
                  <a:schemeClr val="bg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1044278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772</Words>
  <Application>Microsoft Office PowerPoint</Application>
  <PresentationFormat>Widescreen</PresentationFormat>
  <Paragraphs>168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Mounitha ThirumalaReddy</cp:lastModifiedBy>
  <cp:revision>40</cp:revision>
  <dcterms:created xsi:type="dcterms:W3CDTF">2026-08-08T06:33:56Z</dcterms:created>
  <dcterms:modified xsi:type="dcterms:W3CDTF">2026-09-15T16:13:02Z</dcterms:modified>
</cp:coreProperties>
</file>